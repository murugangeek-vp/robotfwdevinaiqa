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Webster → Santander Data Migration</a:t>
            </a:r>
          </a:p>
          <a:p>
            <a:r>
              <a:rPr sz="3000" b="0">
                <a:solidFill>
                  <a:srgbClr val="DEEAF6"/>
                </a:solidFill>
              </a:rPr>
              <a:t>Automated Verification Framework</a:t>
            </a:r>
          </a:p>
          <a:p>
            <a:r>
              <a:rPr sz="1600" b="0">
                <a:solidFill>
                  <a:srgbClr val="DEEAF6"/>
                </a:solidFill>
              </a:rPr>
              <a:t>Contract-driven · Read-only · Auditable — one PASS/FAIL per migrated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EEAF6"/>
                </a:solidFill>
                <a:latin typeface="Calibri"/>
              </a:rPr>
              <a:t>QA Automation — reconciliation testing · Management &amp; client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Why a migration cannot be signed off manually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Webster → Santander migrates dozens of tables (customers, accounts, transactions, …)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Manual spreadsheet comparison does not scale, cannot be audited, and exposes PII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A single missed row, wrong code mapping, or orphan reference is a regulatory issue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Each party needs independent proof — not just “the ETL ran”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Our answer: the migration ETL loads the data — this framework independently verifies 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with read-only access on both sides and produces a signed, tamper-evident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Verification layer — read-only on both sides, separate from the load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108960" cy="146304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Webster — S3 extracts</a:t>
            </a:r>
          </a:p>
          <a:p>
            <a:r>
              <a:rPr sz="1300">
                <a:solidFill>
                  <a:srgbClr val="404040"/>
                </a:solidFill>
              </a:rPr>
              <a:t>Versioned CSV part-files</a:t>
            </a:r>
          </a:p>
          <a:p>
            <a:r>
              <a:rPr sz="1300">
                <a:solidFill>
                  <a:srgbClr val="404040"/>
                </a:solidFill>
              </a:rPr>
              <a:t>per table prefix</a:t>
            </a:r>
          </a:p>
          <a:p>
            <a:r>
              <a:rPr sz="1300">
                <a:solidFill>
                  <a:srgbClr val="404040"/>
                </a:solidFill>
              </a:rPr>
              <a:t>read via GetObject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82880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Bank migration ETL</a:t>
            </a:r>
          </a:p>
          <a:p>
            <a:r>
              <a:rPr sz="1300">
                <a:solidFill>
                  <a:srgbClr val="404040"/>
                </a:solidFill>
              </a:rPr>
              <a:t>Owned by migration team</a:t>
            </a:r>
          </a:p>
          <a:p>
            <a:r>
              <a:rPr sz="1300">
                <a:solidFill>
                  <a:srgbClr val="404040"/>
                </a:solidFill>
              </a:rPr>
              <a:t>Loads + transforms</a:t>
            </a:r>
          </a:p>
          <a:p>
            <a:r>
              <a:rPr sz="1300">
                <a:solidFill>
                  <a:srgbClr val="404040"/>
                </a:solidFill>
              </a:rPr>
              <a:t>(not part of this framework)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28800"/>
            <a:ext cx="3108960" cy="146304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Santander — Snowflake</a:t>
            </a:r>
          </a:p>
          <a:p>
            <a:r>
              <a:rPr sz="1300">
                <a:solidFill>
                  <a:srgbClr val="404040"/>
                </a:solidFill>
              </a:rPr>
              <a:t>Target tables</a:t>
            </a:r>
          </a:p>
          <a:p>
            <a:r>
              <a:rPr sz="1300">
                <a:solidFill>
                  <a:srgbClr val="404040"/>
                </a:solidFill>
              </a:rPr>
              <a:t>SELECT-only verification role</a:t>
            </a:r>
          </a:p>
          <a:p>
            <a:r>
              <a:rPr sz="1300">
                <a:solidFill>
                  <a:srgbClr val="404040"/>
                </a:solidFill>
              </a:rPr>
              <a:t>key-pair auth, no secondary roles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2560320"/>
            <a:ext cx="96012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560320"/>
            <a:ext cx="96012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4206240"/>
            <a:ext cx="6309360" cy="155448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Verification framework (this project)</a:t>
            </a:r>
          </a:p>
          <a:p>
            <a:r>
              <a:rPr sz="1300">
                <a:solidFill>
                  <a:srgbClr val="404040"/>
                </a:solidFill>
              </a:rPr>
              <a:t>Read-only access to BOTH sides — never writes or loads</a:t>
            </a:r>
          </a:p>
          <a:p>
            <a:r>
              <a:rPr sz="1300">
                <a:solidFill>
                  <a:srgbClr val="404040"/>
                </a:solidFill>
              </a:rPr>
              <a:t>Manifest of tables → contracts define columns, keys, rules, mappings, controls</a:t>
            </a:r>
          </a:p>
          <a:p>
            <a:r>
              <a:rPr sz="1300">
                <a:solidFill>
                  <a:srgbClr val="404040"/>
                </a:solidFill>
              </a:rPr>
              <a:t>One Robot Framework test per table per check level → audited evidence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926080" y="3291840"/>
            <a:ext cx="1097280" cy="91440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72400" y="3291840"/>
            <a:ext cx="1371600" cy="91440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Config-driven, not code-driven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Adding table 51 = one contract + one manifest line — zero suite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Migration manifest</a:t>
            </a:r>
          </a:p>
          <a:p>
            <a:r>
              <a:rPr sz="1300">
                <a:solidFill>
                  <a:srgbClr val="404040"/>
                </a:solidFill>
              </a:rPr>
              <a:t>Tables in scope, criticality tier, dependencies</a:t>
            </a:r>
          </a:p>
          <a:p>
            <a:r>
              <a:rPr sz="1300">
                <a:solidFill>
                  <a:srgbClr val="404040"/>
                </a:solidFill>
              </a:rPr>
              <a:t>Cross-table relationships to verify</a:t>
            </a:r>
          </a:p>
          <a:p>
            <a:r>
              <a:rPr sz="1300">
                <a:solidFill>
                  <a:srgbClr val="404040"/>
                </a:solidFill>
              </a:rPr>
              <a:t>Data classification gates which environments may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Per-table contract (YAML)</a:t>
            </a:r>
          </a:p>
          <a:p>
            <a:r>
              <a:rPr sz="1300">
                <a:solidFill>
                  <a:srgbClr val="404040"/>
                </a:solidFill>
              </a:rPr>
              <a:t>Column mapping Webster → Santander, data types, keys</a:t>
            </a:r>
          </a:p>
          <a:p>
            <a:r>
              <a:rPr sz="1300">
                <a:solidFill>
                  <a:srgbClr val="404040"/>
                </a:solidFill>
              </a:rPr>
              <a:t>DQ rules, code mappings (e.g. status A→ACTIVE), control totals</a:t>
            </a:r>
          </a:p>
          <a:p>
            <a:r>
              <a:rPr sz="1300">
                <a:solidFill>
                  <a:srgbClr val="404040"/>
                </a:solidFill>
              </a:rPr>
              <a:t>pii: true flags drive masking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Calibri"/>
              </a:rPr>
              <a:t>Robot pre-run expansion generates the test set from the manifest —</a:t>
            </a:r>
          </a:p>
          <a:p>
            <a:pPr lvl="1"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Calibri"/>
              </a:rPr>
              <a:t>3 tables + 2 relationships already produce 23 distinct checks today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  <a:latin typeface="Calibri"/>
              </a:rPr>
              <a:t>Same contracts run in every environment (mock / SIT / UAT / production)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Six levels of proof per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Cheapest checks first; record-level proof on top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766560"/>
                <a:gridCol w="3383280"/>
              </a:tblGrid>
              <a:tr h="60089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Source lineage — exact S3 objects read (key, version, ETag)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S3 API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Source data quality + code-mapping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Extract, in-memory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Target schema — columns, types, nullability, 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INFORMATION_SCHEMA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Row counts + control totals (sums, min/max, group-by)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Aggregated inside Snowflake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Referential integrity — no orphan accounts/transactions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Anti-join inside Snowflake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Record-level comparison incl. transformations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Bounded, fail-closed above limit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controls built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Designed for a regulated banking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05740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Read-only by design</a:t>
            </a:r>
          </a:p>
          <a:p>
            <a:r>
              <a:rPr sz="1300">
                <a:solidFill>
                  <a:srgbClr val="404040"/>
                </a:solidFill>
              </a:rPr>
              <a:t>Snowflake: dedicated SELECT-only role, secondary roles disabled</a:t>
            </a:r>
          </a:p>
          <a:p>
            <a:r>
              <a:rPr sz="1300">
                <a:solidFill>
                  <a:srgbClr val="404040"/>
                </a:solidFill>
              </a:rPr>
              <a:t>S3: GetObject / ListBucket only</a:t>
            </a:r>
          </a:p>
          <a:p>
            <a:r>
              <a:rPr sz="1300">
                <a:solidFill>
                  <a:srgbClr val="404040"/>
                </a:solidFill>
              </a:rPr>
              <a:t>Framework cannot write — by code and by 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486400" cy="205740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No PII in evidence</a:t>
            </a:r>
          </a:p>
          <a:p>
            <a:r>
              <a:rPr sz="1300">
                <a:solidFill>
                  <a:srgbClr val="404040"/>
                </a:solidFill>
              </a:rPr>
              <a:t>pii:true values → ***REDACTED***, or keyed HMAC tokens</a:t>
            </a:r>
          </a:p>
          <a:p>
            <a:r>
              <a:rPr sz="1300">
                <a:solidFill>
                  <a:srgbClr val="404040"/>
                </a:solidFill>
              </a:rPr>
              <a:t>So failures correlate across tables without exposing data</a:t>
            </a:r>
          </a:p>
          <a:p>
            <a:r>
              <a:rPr sz="1300">
                <a:solidFill>
                  <a:srgbClr val="404040"/>
                </a:solidFill>
              </a:rPr>
              <a:t>Verified: zero raw PII in reports/logs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5486400" cy="205740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Fail closed</a:t>
            </a:r>
          </a:p>
          <a:p>
            <a:r>
              <a:rPr sz="1300">
                <a:solidFill>
                  <a:srgbClr val="404040"/>
                </a:solidFill>
              </a:rPr>
              <a:t>Missing credentials, empty extracts, unknown codes,</a:t>
            </a:r>
          </a:p>
          <a:p>
            <a:r>
              <a:rPr sz="1300">
                <a:solidFill>
                  <a:srgbClr val="404040"/>
                </a:solidFill>
              </a:rPr>
              <a:t>drifted headers, row-limit breach, wrong role → FAIL</a:t>
            </a:r>
          </a:p>
          <a:p>
            <a:r>
              <a:rPr sz="1300">
                <a:solidFill>
                  <a:srgbClr val="404040"/>
                </a:solidFill>
              </a:rPr>
              <a:t>A partial run can only be INCOMPLETE — never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840480"/>
            <a:ext cx="5486400" cy="205740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Tamper-evident audit</a:t>
            </a:r>
          </a:p>
          <a:p>
            <a:r>
              <a:rPr sz="1300">
                <a:solidFill>
                  <a:srgbClr val="404040"/>
                </a:solidFill>
              </a:rPr>
              <a:t>Every run: id, operator, git commit, SHA-256 of rules</a:t>
            </a:r>
          </a:p>
          <a:p>
            <a:r>
              <a:rPr sz="1300">
                <a:solidFill>
                  <a:srgbClr val="404040"/>
                </a:solidFill>
              </a:rPr>
              <a:t>and S3 object versions; report carries its own hash</a:t>
            </a:r>
          </a:p>
          <a:p>
            <a:r>
              <a:rPr sz="1300">
                <a:solidFill>
                  <a:srgbClr val="404040"/>
                </a:solidFill>
              </a:rPr>
              <a:t>Store in immutable evidence store for sign-off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Proven to catch the defects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Negative-path suite injects real faults — every one is detected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492240"/>
              </a:tblGrid>
              <a:tr h="627017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Injected defect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Detected by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Account balance changed by 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Control totals (balance_by_currency) + record compare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Target row deleted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Row count + missing-key + control count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Orphan account (no customer)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Referential integrity — masked in output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Unmapped source code in 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Data-quality mapping rule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S3 part file with wrong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Lineage/header check — run fails closed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PII in failure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Never — assertion scans prove masking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Current verification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Executed on synthetic bank-like data — Webster extract stub + targets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383280"/>
              </a:tblGrid>
              <a:tr h="60089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Migration suite — 3 tables, 2 relationships, 23 generated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23 / 23 PASS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Negative-path proofs (defect injection)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7 / 7 PASS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Regression — CSV/API/S3/MySQL/Postgres suites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63 / 63 PASS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Unit tests (masking, controls, manifest, S3, audit)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93 / 93 PASS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Live Snowflake trial (key-pair, read-only 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14 / 14 PASS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Lint / types / secrets scanning (ruff, mypy, gitleaks)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</a:rPr>
                        <a:t>Clean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All demo data synthetic — no real customer data has entered this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 to production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Phase 1 done; Phase 2 needs bank inputs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20624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Phase 1 — delivered</a:t>
            </a:r>
          </a:p>
          <a:p>
            <a:r>
              <a:rPr sz="1300">
                <a:solidFill>
                  <a:srgbClr val="404040"/>
                </a:solidFill>
              </a:rPr>
              <a:t>Manifest-driven per-table verification</a:t>
            </a:r>
          </a:p>
          <a:p>
            <a:r>
              <a:rPr sz="1300">
                <a:solidFill>
                  <a:srgbClr val="404040"/>
                </a:solidFill>
              </a:rPr>
              <a:t>PII masking, lineage, audit report</a:t>
            </a:r>
          </a:p>
          <a:p>
            <a:r>
              <a:rPr sz="1300">
                <a:solidFill>
                  <a:srgbClr val="404040"/>
                </a:solidFill>
              </a:rPr>
              <a:t>Control totals + referential integrity</a:t>
            </a:r>
          </a:p>
          <a:p>
            <a:r>
              <a:rPr sz="1300">
                <a:solidFill>
                  <a:srgbClr val="404040"/>
                </a:solidFill>
              </a:rPr>
              <a:t>Code mappings, S3 hardening</a:t>
            </a:r>
          </a:p>
          <a:p>
            <a:r>
              <a:rPr sz="1300">
                <a:solidFill>
                  <a:srgbClr val="404040"/>
                </a:solidFill>
              </a:rPr>
              <a:t>CI pipeline + evidence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486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1F3864"/>
                </a:solidFill>
              </a:rPr>
              <a:t>Phase 2 — in progress</a:t>
            </a:r>
          </a:p>
          <a:p>
            <a:r>
              <a:rPr sz="1300">
                <a:solidFill>
                  <a:srgbClr val="404040"/>
                </a:solidFill>
              </a:rPr>
              <a:t>Contract generation from approved mapping spec</a:t>
            </a:r>
          </a:p>
          <a:p>
            <a:r>
              <a:rPr sz="1300">
                <a:solidFill>
                  <a:srgbClr val="404040"/>
                </a:solidFill>
              </a:rPr>
              <a:t>Chunked hash comparison for &gt;100k-row tables</a:t>
            </a:r>
          </a:p>
          <a:p>
            <a:r>
              <a:rPr sz="1300">
                <a:solidFill>
                  <a:srgbClr val="404040"/>
                </a:solidFill>
              </a:rPr>
              <a:t>Balance proofs, control/trailer files, delta runs</a:t>
            </a:r>
          </a:p>
          <a:p>
            <a:r>
              <a:rPr sz="1300">
                <a:solidFill>
                  <a:srgbClr val="404040"/>
                </a:solidFill>
              </a:rPr>
              <a:t>Parallel execution + central evidence store</a:t>
            </a:r>
          </a:p>
          <a:p>
            <a:r>
              <a:rPr sz="1300">
                <a:solidFill>
                  <a:srgbClr val="404040"/>
                </a:solidFill>
              </a:rPr>
              <a:t>Bank-approved run: real S3 → real Snowflake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need for go-live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5B6"/>
                </a:solidFill>
                <a:latin typeface="Calibri"/>
              </a:rPr>
              <a:t>Approvals and inputs requested from the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Approved source-to-target mapping spec (tables, columns, code lists)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Read-only access: S3 extract bucket + Snowflake verification role (key-pair)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Data classification sign-off — which columns are PII/confidential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Required control totals per table (e.g. balance by currency/product)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A bank-approved runner host + evidence retention policy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Mock-migration schedule — we verify each load until cutover sign-off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DEEAF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b="1" sz="1500">
                <a:solidFill>
                  <a:srgbClr val="548235"/>
                </a:solidFill>
              </a:rPr>
              <a:t>Decision requested</a:t>
            </a:r>
          </a:p>
          <a:p>
            <a:r>
              <a:rPr sz="1300">
                <a:solidFill>
                  <a:srgbClr val="404040"/>
                </a:solidFill>
              </a:rPr>
              <a:t>Approve the verification approach + provide the inputs above to start Phase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Verification is independent of the load: if the ETL says it loaded, we prove it.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Six check levels per table, config-driven, scales by adding contracts — not code.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PII never leaves the data plane; every report is hashed and auditable.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Every component is already green on synthetic fixtures and a live Snowflake trial.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Next: Phase 2 inputs from the client, then mock-migration verification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